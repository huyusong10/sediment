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哈基米安全合规审查</a:t>
            </a:r>
          </a:p>
          <a:p>
            <a:pPr algn="ctr">
              <a:defRPr sz="2200"/>
            </a:pPr>
            <a:r>
              <a:t>2024年度合规审计报告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目录</a:t>
            </a:r>
          </a:p>
          <a:p>
            <a:r>
              <a:t>1. 合规审查范围与方法</a:t>
            </a:r>
          </a:p>
          <a:p>
            <a:r>
              <a:t>2. 哈基米红线管理</a:t>
            </a:r>
          </a:p>
          <a:p>
            <a:r>
              <a:t>3. 三振法则合规性评估</a:t>
            </a:r>
          </a:p>
          <a:p>
            <a:r>
              <a:t>4. 判官系统审计</a:t>
            </a:r>
          </a:p>
          <a:p>
            <a:r>
              <a:t>5. 锁龙井使用合规性</a:t>
            </a:r>
          </a:p>
          <a:p>
            <a:r>
              <a:t>6. 暗流与渡鸦调查</a:t>
            </a:r>
          </a:p>
          <a:p>
            <a:r>
              <a:t>7. 账房审计与清浊比</a:t>
            </a:r>
          </a:p>
          <a:p>
            <a:r>
              <a:t>8. 旋涡协议执行情况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合规审查范围</a:t>
            </a:r>
          </a:p>
          <a:p>
            <a:pPr>
              <a:spcBef>
                <a:spcPts val="800"/>
              </a:spcBef>
              <a:defRPr sz="1800"/>
            </a:pPr>
            <a:r>
              <a:t>• 审查范围：全量谐振腔、传输网络、账房系统</a:t>
            </a:r>
          </a:p>
          <a:p>
            <a:pPr>
              <a:spcBef>
                <a:spcPts val="800"/>
              </a:spcBef>
              <a:defRPr sz="1800"/>
            </a:pPr>
            <a:r>
              <a:t>• 审查周期：2024年1月1日至12月31日</a:t>
            </a:r>
          </a:p>
          <a:p>
            <a:pPr>
              <a:spcBef>
                <a:spcPts val="800"/>
              </a:spcBef>
              <a:defRPr sz="1800"/>
            </a:pPr>
            <a:r>
              <a:t>• 审查方法：账房数据审计 + 渡鸦调查 + 自动化检测</a:t>
            </a:r>
          </a:p>
          <a:p>
            <a:pPr>
              <a:spcBef>
                <a:spcPts val="800"/>
              </a:spcBef>
              <a:defRPr sz="1800"/>
            </a:pPr>
            <a:r>
              <a:t>• 审查标准：哈基米管理章程V3.2</a:t>
            </a:r>
          </a:p>
          <a:p>
            <a:pPr>
              <a:spcBef>
                <a:spcPts val="800"/>
              </a:spcBef>
              <a:defRPr sz="1800"/>
            </a:pPr>
            <a:r>
              <a:t>• 审查结论：整体合规率96.8%，需整改项14个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红线管理审查</a:t>
            </a:r>
          </a:p>
          <a:p>
            <a:pPr>
              <a:spcBef>
                <a:spcPts val="800"/>
              </a:spcBef>
              <a:defRPr sz="1800"/>
            </a:pPr>
            <a:r>
              <a:t>• 红线定义：嗡鸣度不可超过的安全阈值</a:t>
            </a:r>
          </a:p>
          <a:p>
            <a:pPr>
              <a:spcBef>
                <a:spcPts val="800"/>
              </a:spcBef>
              <a:defRPr sz="1800"/>
            </a:pPr>
            <a:r>
              <a:t>• 全年红线触碰事件7次，均为短时毛刺越限</a:t>
            </a:r>
          </a:p>
          <a:p>
            <a:pPr>
              <a:spcBef>
                <a:spcPts val="800"/>
              </a:spcBef>
              <a:defRPr sz="1800"/>
            </a:pPr>
            <a:r>
              <a:t>• 红线越限后自动恢复率100%，无持续越限</a:t>
            </a:r>
          </a:p>
          <a:p>
            <a:pPr>
              <a:spcBef>
                <a:spcPts val="800"/>
              </a:spcBef>
              <a:defRPr sz="1800"/>
            </a:pPr>
            <a:r>
              <a:t>• 红线告警响应时间：平均4.5分钟，达标</a:t>
            </a:r>
          </a:p>
          <a:p>
            <a:pPr>
              <a:spcBef>
                <a:spcPts val="800"/>
              </a:spcBef>
              <a:defRPr sz="1800"/>
            </a:pPr>
            <a:r>
              <a:t>• 建议：红线阈值动态调整机制，适配不同工况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三振法则与判官系统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三振法则合规</a:t>
            </a:r>
          </a:p>
          <a:p>
            <a:pPr>
              <a:spcBef>
                <a:spcPts val="600"/>
              </a:spcBef>
              <a:defRPr sz="1600"/>
            </a:pPr>
            <a:r>
              <a:t>• 三振法则触发12次，流程合规</a:t>
            </a:r>
          </a:p>
          <a:p>
            <a:pPr>
              <a:spcBef>
                <a:spcPts val="600"/>
              </a:spcBef>
              <a:defRPr sz="1600"/>
            </a:pPr>
            <a:r>
              <a:t>• 隔离决策记录完整，可追溯</a:t>
            </a:r>
          </a:p>
          <a:p>
            <a:pPr>
              <a:spcBef>
                <a:spcPts val="600"/>
              </a:spcBef>
              <a:defRPr sz="1600"/>
            </a:pPr>
            <a:r>
              <a:t>• 2次误触发，已优化判定条件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09728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判官系统审计</a:t>
            </a:r>
          </a:p>
          <a:p>
            <a:pPr>
              <a:spcBef>
                <a:spcPts val="600"/>
              </a:spcBef>
              <a:defRPr sz="1600"/>
            </a:pPr>
            <a:r>
              <a:t>• 判官决策日志完整率100%</a:t>
            </a:r>
          </a:p>
          <a:p>
            <a:pPr>
              <a:spcBef>
                <a:spcPts val="600"/>
              </a:spcBef>
              <a:defRPr sz="1600"/>
            </a:pPr>
            <a:r>
              <a:t>• 泄洪决策4次，均有完整依据</a:t>
            </a:r>
          </a:p>
          <a:p>
            <a:pPr>
              <a:spcBef>
                <a:spcPts val="600"/>
              </a:spcBef>
              <a:defRPr sz="1600"/>
            </a:pPr>
            <a:r>
              <a:t>• 判官阈值变更经祭司团审批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锁龙井与暗流审查</a:t>
            </a:r>
          </a:p>
          <a:p>
            <a:r>
              <a:t>• 锁龙井触发15次，均有合规审批记录</a:t>
            </a:r>
          </a:p>
          <a:p>
            <a:r>
              <a:t>• 锁龙井解除流程合规率100%</a:t>
            </a:r>
          </a:p>
          <a:p>
            <a:r>
              <a:t>• 暗流调查23起，渡鸦全部完成调查报告</a:t>
            </a:r>
          </a:p>
          <a:p>
            <a:r>
              <a:t>• 暗流阻断率91.3%，未阻断2起已升级处理</a:t>
            </a:r>
          </a:p>
          <a:p>
            <a:r>
              <a:t>• 暗流相关责任人处理：警告2人，调岗1人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账房与清浊比合规</a:t>
            </a:r>
          </a:p>
          <a:p>
            <a:pPr>
              <a:spcBef>
                <a:spcPts val="800"/>
              </a:spcBef>
              <a:defRPr sz="1800"/>
            </a:pPr>
            <a:r>
              <a:t>• 账房哈基米收支记录完整率99.7%</a:t>
            </a:r>
          </a:p>
          <a:p>
            <a:pPr>
              <a:spcBef>
                <a:spcPts val="800"/>
              </a:spcBef>
              <a:defRPr sz="1800"/>
            </a:pPr>
            <a:r>
              <a:t>• 清浊比全年达标天数342天（93.7%）</a:t>
            </a:r>
          </a:p>
          <a:p>
            <a:pPr>
              <a:spcBef>
                <a:spcPts val="800"/>
              </a:spcBef>
              <a:defRPr sz="1800"/>
            </a:pPr>
            <a:r>
              <a:t>• 清浊比不达标天数23天，均有原因说明</a:t>
            </a:r>
          </a:p>
          <a:p>
            <a:pPr>
              <a:spcBef>
                <a:spcPts val="800"/>
              </a:spcBef>
              <a:defRPr sz="1800"/>
            </a:pPr>
            <a:r>
              <a:t>• 账房对账差异率0.08%，优于0.1%标准</a:t>
            </a:r>
          </a:p>
          <a:p>
            <a:pPr>
              <a:spcBef>
                <a:spcPts val="800"/>
              </a:spcBef>
              <a:defRPr sz="1800"/>
            </a:pPr>
            <a:r>
              <a:t>• 账房审计发现未授权传输5笔，已整改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旋涡协议执行审查</a:t>
            </a:r>
          </a:p>
          <a:p>
            <a:pPr>
              <a:spcBef>
                <a:spcPts val="800"/>
              </a:spcBef>
              <a:defRPr sz="1800"/>
            </a:pPr>
            <a:r>
              <a:t>• 旋涡协议合规率98.2%</a:t>
            </a:r>
          </a:p>
          <a:p>
            <a:pPr>
              <a:spcBef>
                <a:spcPts val="800"/>
              </a:spcBef>
              <a:defRPr sz="1800"/>
            </a:pPr>
            <a:r>
              <a:t>• 未使用旋涡协议的传输共14笔</a:t>
            </a:r>
          </a:p>
          <a:p>
            <a:pPr>
              <a:spcBef>
                <a:spcPts val="800"/>
              </a:spcBef>
              <a:defRPr sz="1800"/>
            </a:pPr>
            <a:r>
              <a:t>• 其中暗流8笔（违规），紧急泄洪6笔（合规豁免）</a:t>
            </a:r>
          </a:p>
          <a:p>
            <a:pPr>
              <a:spcBef>
                <a:spcPts val="800"/>
              </a:spcBef>
              <a:defRPr sz="1800"/>
            </a:pPr>
            <a:r>
              <a:t>• 暗流传输全部被渡鸦发现并阻断</a:t>
            </a:r>
          </a:p>
          <a:p>
            <a:pPr>
              <a:spcBef>
                <a:spcPts val="800"/>
              </a:spcBef>
              <a:defRPr sz="1800"/>
            </a:pPr>
            <a:r>
              <a:t>• 旋涡协议版本升级到V2.1，安全性提升30%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整改建议</a:t>
            </a:r>
          </a:p>
          <a:p>
            <a:pPr>
              <a:spcBef>
                <a:spcPts val="800"/>
              </a:spcBef>
              <a:defRPr sz="1800"/>
            </a:pPr>
            <a:r>
              <a:t>• 建议1：红线阈值引入动态调整机制</a:t>
            </a:r>
          </a:p>
          <a:p>
            <a:pPr>
              <a:spcBef>
                <a:spcPts val="800"/>
              </a:spcBef>
              <a:defRPr sz="1800"/>
            </a:pPr>
            <a:r>
              <a:t>• 建议2：三振法则误触发率需降至5%以下</a:t>
            </a:r>
          </a:p>
          <a:p>
            <a:pPr>
              <a:spcBef>
                <a:spcPts val="800"/>
              </a:spcBef>
              <a:defRPr sz="1800"/>
            </a:pPr>
            <a:r>
              <a:t>• 建议3：暗流检测率提升至98%</a:t>
            </a:r>
          </a:p>
          <a:p>
            <a:pPr>
              <a:spcBef>
                <a:spcPts val="800"/>
              </a:spcBef>
              <a:defRPr sz="1800"/>
            </a:pPr>
            <a:r>
              <a:t>• 建议4：账房未授权传输零容忍</a:t>
            </a:r>
          </a:p>
          <a:p>
            <a:pPr>
              <a:spcBef>
                <a:spcPts val="800"/>
              </a:spcBef>
              <a:defRPr sz="1800"/>
            </a:pPr>
            <a:r>
              <a:t>• 建议5：旋涡协议执行率提升至99.5%</a:t>
            </a:r>
          </a:p>
          <a:p>
            <a:pPr>
              <a:spcBef>
                <a:spcPts val="800"/>
              </a:spcBef>
              <a:defRPr sz="1800"/>
            </a:pPr>
            <a:r>
              <a:t>• 整改期限：Q1完成6项，Q2完成8项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合规评级</a:t>
            </a:r>
          </a:p>
          <a:p>
            <a:r>
              <a:t>• 总体合规评级：A-（优秀）</a:t>
            </a:r>
          </a:p>
          <a:p>
            <a:r>
              <a:t>• 红线管理：A，三振法则：A-，判官系统：A</a:t>
            </a:r>
          </a:p>
          <a:p>
            <a:r>
              <a:t>• 锁龙井管理：A，暗流治理：B+，账房审计：A</a:t>
            </a:r>
          </a:p>
          <a:p>
            <a:r>
              <a:t>• 清浊比管控：A-，旋涡协议：A-</a:t>
            </a:r>
          </a:p>
          <a:p>
            <a:r>
              <a:t>• 改进方向：暗流治理与旋涡协议执行率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