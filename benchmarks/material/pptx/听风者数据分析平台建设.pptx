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听风者数据分析平台建设</a:t>
            </a:r>
          </a:p>
          <a:p>
            <a:pPr algn="ctr">
              <a:defRPr sz="2200"/>
            </a:pPr>
            <a:r>
              <a:t>嗡鸣度智能分析体系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目录</a:t>
            </a:r>
          </a:p>
          <a:p>
            <a:pPr>
              <a:spcBef>
                <a:spcPts val="800"/>
              </a:spcBef>
              <a:defRPr sz="1800"/>
            </a:pPr>
            <a:r>
              <a:t>1. 平台建设背景与目标</a:t>
            </a:r>
          </a:p>
          <a:p>
            <a:pPr>
              <a:spcBef>
                <a:spcPts val="800"/>
              </a:spcBef>
              <a:defRPr sz="1800"/>
            </a:pPr>
            <a:r>
              <a:t>2. 听风者团队角色定位</a:t>
            </a:r>
          </a:p>
          <a:p>
            <a:pPr>
              <a:spcBef>
                <a:spcPts val="800"/>
              </a:spcBef>
              <a:defRPr sz="1800"/>
            </a:pPr>
            <a:r>
              <a:t>3. 嗡鸣度数据采集架构</a:t>
            </a:r>
          </a:p>
          <a:p>
            <a:pPr>
              <a:spcBef>
                <a:spcPts val="800"/>
              </a:spcBef>
              <a:defRPr sz="1800"/>
            </a:pPr>
            <a:r>
              <a:t>4. 留声机存储方案设计</a:t>
            </a:r>
          </a:p>
          <a:p>
            <a:pPr>
              <a:spcBef>
                <a:spcPts val="800"/>
              </a:spcBef>
              <a:defRPr sz="1800"/>
            </a:pPr>
            <a:r>
              <a:t>5. 底噪与毛刺分析模型</a:t>
            </a:r>
          </a:p>
          <a:p>
            <a:pPr>
              <a:spcBef>
                <a:spcPts val="800"/>
              </a:spcBef>
              <a:defRPr sz="1800"/>
            </a:pPr>
            <a:r>
              <a:t>6. 峰谷差与共振峰计算</a:t>
            </a:r>
          </a:p>
          <a:p>
            <a:pPr>
              <a:spcBef>
                <a:spcPts val="800"/>
              </a:spcBef>
              <a:defRPr sz="1800"/>
            </a:pPr>
            <a:r>
              <a:t>7. 照妖镜异常检测</a:t>
            </a:r>
          </a:p>
          <a:p>
            <a:pPr>
              <a:spcBef>
                <a:spcPts val="800"/>
              </a:spcBef>
              <a:defRPr sz="1800"/>
            </a:pPr>
            <a:r>
              <a:t>8. 回音壁数据接入与安全弦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平台建设背景</a:t>
            </a:r>
          </a:p>
          <a:p>
            <a:pPr>
              <a:spcBef>
                <a:spcPts val="800"/>
              </a:spcBef>
              <a:defRPr sz="1800"/>
            </a:pPr>
            <a:r>
              <a:t>• 当前嗡鸣度数据分析依赖人工，效率低</a:t>
            </a:r>
          </a:p>
          <a:p>
            <a:pPr>
              <a:spcBef>
                <a:spcPts val="800"/>
              </a:spcBef>
              <a:defRPr sz="1800"/>
            </a:pPr>
            <a:r>
              <a:t>• 底噪趋势、毛刺模式、峰谷差缺乏系统化分析</a:t>
            </a:r>
          </a:p>
          <a:p>
            <a:pPr>
              <a:spcBef>
                <a:spcPts val="800"/>
              </a:spcBef>
              <a:defRPr sz="1800"/>
            </a:pPr>
            <a:r>
              <a:t>• 共振峰识别准确率仅73%，误报率高</a:t>
            </a:r>
          </a:p>
          <a:p>
            <a:pPr>
              <a:spcBef>
                <a:spcPts val="800"/>
              </a:spcBef>
              <a:defRPr sz="1800"/>
            </a:pPr>
            <a:r>
              <a:t>• 平台建设目标：嗡鸣度分析自动化率&gt;85%</a:t>
            </a:r>
          </a:p>
          <a:p>
            <a:pPr>
              <a:spcBef>
                <a:spcPts val="800"/>
              </a:spcBef>
              <a:defRPr sz="1800"/>
            </a:pPr>
            <a:r>
              <a:t>• 听风者团队从数据提供者升级为分析决策者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数据采集架构</a:t>
            </a:r>
          </a:p>
          <a:p>
            <a:pPr>
              <a:spcBef>
                <a:spcPts val="800"/>
              </a:spcBef>
              <a:defRPr sz="1800"/>
            </a:pPr>
            <a:r>
              <a:t>• 数据源：回音壁网络（48个节点），采样频率1次/分钟</a:t>
            </a:r>
          </a:p>
          <a:p>
            <a:pPr>
              <a:spcBef>
                <a:spcPts val="800"/>
              </a:spcBef>
              <a:defRPr sz="1800"/>
            </a:pPr>
            <a:r>
              <a:t>• 传输协议：旋涡协议加密通道，延迟&lt;500ms</a:t>
            </a:r>
          </a:p>
          <a:p>
            <a:pPr>
              <a:spcBef>
                <a:spcPts val="800"/>
              </a:spcBef>
              <a:defRPr sz="1800"/>
            </a:pPr>
            <a:r>
              <a:t>• 量天尺同步测量传输损耗，数据质量标记</a:t>
            </a:r>
          </a:p>
          <a:p>
            <a:pPr>
              <a:spcBef>
                <a:spcPts val="800"/>
              </a:spcBef>
              <a:defRPr sz="1800"/>
            </a:pPr>
            <a:r>
              <a:t>• 留声机持久化存储，保留周期24个月</a:t>
            </a:r>
          </a:p>
          <a:p>
            <a:pPr>
              <a:spcBef>
                <a:spcPts val="800"/>
              </a:spcBef>
              <a:defRPr sz="1800"/>
            </a:pPr>
            <a:r>
              <a:t>• 数据清洗：过滤幽灵读数，修复断流数据缺口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底噪毛刺与峰谷差分析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底噪与毛刺</a:t>
            </a:r>
          </a:p>
          <a:p>
            <a:pPr>
              <a:spcBef>
                <a:spcPts val="600"/>
              </a:spcBef>
              <a:defRPr sz="1600"/>
            </a:pPr>
            <a:r>
              <a:t>• 底噪基线模型：按谐振腔、时段、季节建模</a:t>
            </a:r>
          </a:p>
          <a:p>
            <a:pPr>
              <a:spcBef>
                <a:spcPts val="600"/>
              </a:spcBef>
              <a:defRPr sz="1600"/>
            </a:pPr>
            <a:r>
              <a:t>• 毛刺检测：3σ阈值 + 时间窗口联合判定</a:t>
            </a:r>
          </a:p>
          <a:p>
            <a:pPr>
              <a:spcBef>
                <a:spcPts val="600"/>
              </a:spcBef>
              <a:defRPr sz="1600"/>
            </a:pPr>
            <a:r>
              <a:t>• 毛刺分类：设备型、环境型、真实异常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峰谷差与共振峰</a:t>
            </a:r>
          </a:p>
          <a:p>
            <a:pPr>
              <a:spcBef>
                <a:spcPts val="600"/>
              </a:spcBef>
              <a:defRPr sz="1600"/>
            </a:pPr>
            <a:r>
              <a:t>• 峰谷差周期统计：日/周/月粒度</a:t>
            </a:r>
          </a:p>
          <a:p>
            <a:pPr>
              <a:spcBef>
                <a:spcPts val="600"/>
              </a:spcBef>
              <a:defRPr sz="1600"/>
            </a:pPr>
            <a:r>
              <a:t>• 共振峰识别：频域分析 + 模式匹配</a:t>
            </a:r>
          </a:p>
          <a:p>
            <a:pPr>
              <a:spcBef>
                <a:spcPts val="600"/>
              </a:spcBef>
              <a:defRPr sz="1600"/>
            </a:pPr>
            <a:r>
              <a:t>• 安全弦动态调整：基于共振峰偏移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留声机存储方案</a:t>
            </a:r>
          </a:p>
          <a:p>
            <a:pPr>
              <a:spcBef>
                <a:spcPts val="800"/>
              </a:spcBef>
              <a:defRPr sz="1800"/>
            </a:pPr>
            <a:r>
              <a:t>• 热数据：最近7天，毫秒级查询响应</a:t>
            </a:r>
          </a:p>
          <a:p>
            <a:pPr>
              <a:spcBef>
                <a:spcPts val="800"/>
              </a:spcBef>
              <a:defRPr sz="1800"/>
            </a:pPr>
            <a:r>
              <a:t>• 温数据：7天-6个月，秒级查询响应</a:t>
            </a:r>
          </a:p>
          <a:p>
            <a:pPr>
              <a:spcBef>
                <a:spcPts val="800"/>
              </a:spcBef>
              <a:defRPr sz="1800"/>
            </a:pPr>
            <a:r>
              <a:t>• 冷数据：6个月-24个月，分钟级查询响应</a:t>
            </a:r>
          </a:p>
          <a:p>
            <a:pPr>
              <a:spcBef>
                <a:spcPts val="800"/>
              </a:spcBef>
              <a:defRPr sz="1800"/>
            </a:pPr>
            <a:r>
              <a:t>• 留声机容量规划：峰值写入10万条/秒</a:t>
            </a:r>
          </a:p>
          <a:p>
            <a:pPr>
              <a:spcBef>
                <a:spcPts val="800"/>
              </a:spcBef>
              <a:defRPr sz="1800"/>
            </a:pPr>
            <a:r>
              <a:t>• 数据压缩比4:1，存储成本可控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照妖镜异常检测</a:t>
            </a:r>
          </a:p>
          <a:p>
            <a:pPr>
              <a:spcBef>
                <a:spcPts val="800"/>
              </a:spcBef>
              <a:defRPr sz="1800"/>
            </a:pPr>
            <a:r>
              <a:t>• 照妖镜功能：检测幽灵读数、假涌、异常毛刺</a:t>
            </a:r>
          </a:p>
          <a:p>
            <a:pPr>
              <a:spcBef>
                <a:spcPts val="800"/>
              </a:spcBef>
              <a:defRPr sz="1800"/>
            </a:pPr>
            <a:r>
              <a:t>• 检测算法：多模型集成（孤立森林 + LSTM + 规则引擎）</a:t>
            </a:r>
          </a:p>
          <a:p>
            <a:pPr>
              <a:spcBef>
                <a:spcPts val="800"/>
              </a:spcBef>
              <a:defRPr sz="1800"/>
            </a:pPr>
            <a:r>
              <a:t>• 幽灵读数识别率目标：&gt;99%，误报率&lt;0.1%</a:t>
            </a:r>
          </a:p>
          <a:p>
            <a:pPr>
              <a:spcBef>
                <a:spcPts val="800"/>
              </a:spcBef>
              <a:defRPr sz="1800"/>
            </a:pPr>
            <a:r>
              <a:t>• 异常数据自动标记，不进入分析流水线</a:t>
            </a:r>
          </a:p>
          <a:p>
            <a:pPr>
              <a:spcBef>
                <a:spcPts val="800"/>
              </a:spcBef>
              <a:defRPr sz="1800"/>
            </a:pPr>
            <a:r>
              <a:t>• 照妖镜检测结果接入千机匣告警系统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回音壁接入与安全弦管理</a:t>
            </a:r>
          </a:p>
          <a:p>
            <a:pPr>
              <a:spcBef>
                <a:spcPts val="800"/>
              </a:spcBef>
              <a:defRPr sz="1800"/>
            </a:pPr>
            <a:r>
              <a:t>• 48个回音壁全量接入，新增12个补盲节点</a:t>
            </a:r>
          </a:p>
          <a:p>
            <a:pPr>
              <a:spcBef>
                <a:spcPts val="800"/>
              </a:spcBef>
              <a:defRPr sz="1800"/>
            </a:pPr>
            <a:r>
              <a:t>• 回音壁健康度监控：离线率&lt;0.5%</a:t>
            </a:r>
          </a:p>
          <a:p>
            <a:pPr>
              <a:spcBef>
                <a:spcPts val="800"/>
              </a:spcBef>
              <a:defRPr sz="1800"/>
            </a:pPr>
            <a:r>
              <a:t>• 安全弦计算：基于历史嗡鸣度数据动态生成</a:t>
            </a:r>
          </a:p>
          <a:p>
            <a:pPr>
              <a:spcBef>
                <a:spcPts val="800"/>
              </a:spcBef>
              <a:defRPr sz="1800"/>
            </a:pPr>
            <a:r>
              <a:t>• 安全弦越限预警：提前15分钟通知判官</a:t>
            </a:r>
          </a:p>
          <a:p>
            <a:pPr>
              <a:spcBef>
                <a:spcPts val="800"/>
              </a:spcBef>
              <a:defRPr sz="1800"/>
            </a:pPr>
            <a:r>
              <a:t>• 听风者每日输出嗡鸣度分析日报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平台里程碑</a:t>
            </a:r>
          </a:p>
          <a:p>
            <a:pPr>
              <a:spcBef>
                <a:spcPts val="800"/>
              </a:spcBef>
              <a:defRPr sz="1800"/>
            </a:pPr>
            <a:r>
              <a:t>• Phase 1（已完成）：数据采集与留声机存储上线</a:t>
            </a:r>
          </a:p>
          <a:p>
            <a:pPr>
              <a:spcBef>
                <a:spcPts val="800"/>
              </a:spcBef>
              <a:defRPr sz="1800"/>
            </a:pPr>
            <a:r>
              <a:t>• Phase 2（进行中）：底噪毛刺分析模型部署</a:t>
            </a:r>
          </a:p>
          <a:p>
            <a:pPr>
              <a:spcBef>
                <a:spcPts val="800"/>
              </a:spcBef>
              <a:defRPr sz="1800"/>
            </a:pPr>
            <a:r>
              <a:t>• Phase 3（下月）：照妖镜异常检测上线</a:t>
            </a:r>
          </a:p>
          <a:p>
            <a:pPr>
              <a:spcBef>
                <a:spcPts val="800"/>
              </a:spcBef>
              <a:defRPr sz="1800"/>
            </a:pPr>
            <a:r>
              <a:t>• Phase 4（Q4）：共振峰识别与安全弦动态调整</a:t>
            </a:r>
          </a:p>
          <a:p>
            <a:pPr>
              <a:spcBef>
                <a:spcPts val="800"/>
              </a:spcBef>
              <a:defRPr sz="1800"/>
            </a:pPr>
            <a:r>
              <a:t>• Phase 5（明年Q1）：全量自动化分析闭环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